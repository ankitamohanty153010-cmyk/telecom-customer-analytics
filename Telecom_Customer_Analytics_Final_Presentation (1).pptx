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91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37960"/>
            <a:ext cx="111099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28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Customer Analytics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005840"/>
            <a:ext cx="109728" cy="4389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097280"/>
            <a:ext cx="9875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Analytics in the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Telecommunication Industry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78992" y="27889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5E3"/>
                </a:solidFill>
              </a:rPr>
              <a:t>TellCo customer overview, engagement, experience and satisfaction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8992" y="36118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366674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Python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404872" y="36118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366674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MySQL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730752" y="36118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36667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Power BI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239512" y="36118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2664" y="366674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K-Means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078992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3A4B8"/>
                </a:solidFill>
              </a:rPr>
              <a:t>Final Project Presentation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Prepared by Ankita Mohanty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Context &amp; Analytical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due diligence for TellCo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50876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Business need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4480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Assess customer behavior, network quality and growth opportunities before making a purchase decision.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54864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00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Decision focus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502152"/>
            <a:ext cx="4480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Identify profitable usage patterns, service quality risks and customer segments that can support future growth.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806440" y="1298448"/>
            <a:ext cx="5715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4447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527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01968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User Overview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1444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B"/>
                </a:solidFill>
              </a:rPr>
              <a:t>Handsets, sessions, traffic, applications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2441448"/>
            <a:ext cx="5715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2587752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01968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2587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B"/>
                </a:solidFill>
              </a:rPr>
              <a:t>Frequency, duration, traffic, K-Means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3584448"/>
            <a:ext cx="5715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37307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3813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01968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3730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B"/>
                </a:solidFill>
              </a:rPr>
              <a:t>RTT, throughput, TCP retransmission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4727448"/>
            <a:ext cx="5715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4873752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956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01968" y="4873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Satisfaction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92440" y="4873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B"/>
                </a:solidFill>
              </a:rPr>
              <a:t>Scores, regression, clustering, SQL export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and feature preparation before analysis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Rows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150,001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0392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full Python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325880"/>
            <a:ext cx="73152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Variables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64992" y="1856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55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364992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network, device &amp; app fields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13258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325880"/>
            <a:ext cx="73152" cy="141732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SQL sample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79592" y="1856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9,741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879592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imported rows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32588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Power BI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94192" y="1856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10,000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394192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dashboard sample rows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3154680"/>
            <a:ext cx="106070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Missing numerical values were handled with mean imputation; categorical values used mode where appropriate.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Outliers were inspected with box plots and treated consistently with the project brief.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Customer-level aggregates were created for engagement, experience and satisfaction scoring.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Application traffic was combined across download and upload bytes for business interpretation.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— User Overview: Handset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concentration is high among a few manufacturers and models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5541264" cy="4123944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telecom_ppt_assets/extracted/cell_5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548640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27648" y="1298448"/>
            <a:ext cx="5266944" cy="4123944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7" name="Image 1" descr="/mnt/data/telecom_ppt_assets/extracted/cell_5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5212080" cy="4069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557784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5577840"/>
            <a:ext cx="54864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1832" y="57150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41832" y="6016752"/>
            <a:ext cx="103327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Apple, Samsung and Huawei dominate manufacturer usage, while Huawei B528S-23A is the single most common handset model. Device concentration supports targeted device partnerships and support strategies.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duration is strongly right-skewed and contains long-session outliers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5358384" cy="4078224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telecom_ppt_assets/extracted/cell_3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53035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0488" y="1298448"/>
            <a:ext cx="5358384" cy="4078224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7" name="Image 1" descr="/mnt/data/telecom_ppt_assets/extracted/cell_3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25880"/>
            <a:ext cx="5303520" cy="4023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5532120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5532120"/>
            <a:ext cx="54864" cy="71323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1832" y="5669280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41832" y="5971032"/>
            <a:ext cx="10287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Most sessions are relatively short, while a smaller number of very long sessions create a long tail. This supports robust outlier treatment before clustering.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— Application Usage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Entertainment traffic dominates total network demand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6684264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telecom_ppt_assets/extracted/cell_5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6294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50876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50876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Largest traffic drivers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99832" y="1947672"/>
            <a:ext cx="3383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Gaming and Other applications account for the largest share of total traffic.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635240" y="283464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0" y="2834640"/>
            <a:ext cx="54864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9832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Secondary demand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99832" y="3273552"/>
            <a:ext cx="3383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YouTube and Netflix are the next major traffic consumers, highlighting video-heavy usage.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635240" y="41605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5240" y="4160520"/>
            <a:ext cx="54864" cy="109728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9832" y="4297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Business implication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99832" y="4599432"/>
            <a:ext cx="3383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Prioritize bandwidth planning and capacity management around entertainment-heavy usage periods.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Correlation &amp; Dimensionality Reduction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shows application behavior is spread across multiple dimensions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5724144" cy="4581144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telecom_ppt_assets/extracted/cell_4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669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46304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46304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2592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PC1 variance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22592" y="1993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14.83%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022592" y="2404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first component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098280" y="146304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98280" y="1463040"/>
            <a:ext cx="73152" cy="1325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08592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PC2 variance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308592" y="1993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14.55%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308592" y="2404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second component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12280" y="3063240"/>
            <a:ext cx="4343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3063240"/>
            <a:ext cx="73152" cy="137160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22592" y="3227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Combined variance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022592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29.38%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7022592" y="4050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two components together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12280" y="4736592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12280" y="4736592"/>
            <a:ext cx="54864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76872" y="48737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76872" y="5175504"/>
            <a:ext cx="4069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Two components retain less than one-third of total variation, so application usage cannot be represented well by only two dimensions.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— User Engagement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activity segmented using frequency, duration and total traffic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Metric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Session frequency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96112" y="2313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number of xDR sessions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3258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325880"/>
            <a:ext cx="73152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Metric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70832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Session duration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370832" y="2313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total duration per customer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35240" y="13258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325880"/>
            <a:ext cx="73152" cy="137160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Metric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45552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Total traffic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845552" y="2313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DL + UL bytes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315468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154680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291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Normalization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593592"/>
            <a:ext cx="28803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Engagement metrics were standardized before clustering to prevent scale dominance.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160520" y="315468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3154680"/>
            <a:ext cx="54864" cy="1600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3291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K-Means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25112" y="3593592"/>
            <a:ext cx="28803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Users were segmented into 3 engagement clusters. The elbow method was used to evaluate the optimized k.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0" y="315468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3154680"/>
            <a:ext cx="54864" cy="160020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Top applications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62672" y="3593592"/>
            <a:ext cx="31089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Gaming, Other and YouTube were among the highest traffic applications, guiding resource allocation.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6868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Business use: target high-engagement users with premium offers while building activation strategies for low-engagement segments.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 — User Experience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quality was assessed using RTT, throughput and TCP retransmission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353312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DL RTT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122.46 ms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0392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73152" cy="135331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UL RTT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47872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18.91 ms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47872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25880"/>
            <a:ext cx="73152" cy="13533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DL throughput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45352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22,367.72 kbps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245352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32520" y="132588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325880"/>
            <a:ext cx="73152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UL throughput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42832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2,885.36 kbps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942832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30632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063240"/>
            <a:ext cx="73152" cy="13258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4792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DL TCP retransmission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764792" y="3593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13.60 MB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1764792" y="4005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46520" y="30632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063240"/>
            <a:ext cx="73152" cy="132588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UL TCP retransmission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56832" y="3593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0.49 MB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656832" y="4005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SQL sample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4892040"/>
            <a:ext cx="103327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4892040"/>
            <a:ext cx="54864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5029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Experience clustering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78992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Customers were grouped into 3 experience clusters using normalized TCP retransmission, RTT and throughput metrics. The least favorable cluster was used as the reference for experience scoring.</a:t>
            </a:r>
            <a:endParaRPr lang="en-US" sz="108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 — Satisfaction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Satisfaction combines distance from low engagement and poor experience clusters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Final customers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8,341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039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unique scored users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86200" y="13258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325880"/>
            <a:ext cx="73152" cy="1325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1490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More satisfied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96512" y="1856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2,673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09651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cluster 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0" y="13258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325880"/>
            <a:ext cx="73152" cy="13258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1490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Less satisfied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42632" y="1856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5,668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34263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cluster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035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Satisfaction cluster distribution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547872"/>
            <a:ext cx="4754880" cy="384048"/>
          </a:xfrm>
          <a:prstGeom prst="rect">
            <a:avLst/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547872"/>
            <a:ext cx="1523773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05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</a:rPr>
              <a:t>32% more satisfied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4572000"/>
            <a:ext cx="4754880" cy="384048"/>
          </a:xfrm>
          <a:prstGeom prst="rect">
            <a:avLst/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572000"/>
            <a:ext cx="3231107" cy="38404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29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4C4C"/>
                </a:solidFill>
              </a:rPr>
              <a:t>68% less satisfied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063240"/>
            <a:ext cx="48920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3063240"/>
            <a:ext cx="54864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Cluster averages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3502152"/>
            <a:ext cx="46177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More satisfied cluster: satisfaction ≈ 2.375. Less satisfied cluster: satisfaction ≈ 1.562.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080760" y="4389120"/>
            <a:ext cx="48920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4389120"/>
            <a:ext cx="54864" cy="129844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45262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Regression caveat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5352" y="4828032"/>
            <a:ext cx="4617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Linear regression produced R² ≈ 1.0 because satisfaction was mathematically defined as the average of the same two predictor scores. This is not evidence of real-world predictive perfection.</a:t>
            </a:r>
            <a:endParaRPr lang="en-US" sz="10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Tracking Evidence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tracking artifact created for the satisfaction regression model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30936" y="1298448"/>
            <a:ext cx="7461504" cy="4398264"/>
          </a:xfrm>
          <a:prstGeom prst="roundRect">
            <a:avLst>
              <a:gd name="adj" fmla="val 124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00c648e1-4124-4197-9124-5ee31a801e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74066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50876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66760" y="150876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1352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Tracked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31352" y="194767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Model version, model name, start/end time and data source.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366760" y="274320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6760" y="2743200"/>
            <a:ext cx="54864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1352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Metrics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31352" y="318211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MAE, MSE, RMSE and R² recorded for the run.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366760" y="397764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66760" y="3977640"/>
            <a:ext cx="54864" cy="100584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1352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Artifacts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31352" y="441655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model_tracking.csv and satisfaction_model_v1.pkl saved.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394192" y="52852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6B7B"/>
                </a:solidFill>
              </a:rPr>
              <a:t>Note: this is tracking evidence, not a full production deployment pipeline.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4.6 — MySQL Export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satisfaction score table successfully stored and queried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8055864" cy="4581144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83d2eeb4-0269-46fe-b276-39fc8f1643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80010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6459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15400" y="1645920"/>
            <a:ext cx="54864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79992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Required columns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79992" y="2084832"/>
            <a:ext cx="22402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MSISDN/Number, engagement_score, experience_score, satisfaction_score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915400" y="310896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15400" y="310896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79992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79992" y="3547872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SELECT * FROM telecom_satisfaction_scores LIMIT 10 returned the expected data.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915400" y="443484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15400" y="4434840"/>
            <a:ext cx="54864" cy="100584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79992" y="4572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Purpose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79992" y="4873752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Provides persistence and reproducibility of the final customer score table.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dashboard view for stakeholder communication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71016"/>
            <a:ext cx="8284464" cy="4809744"/>
          </a:xfrm>
          <a:prstGeom prst="roundRect">
            <a:avLst>
              <a:gd name="adj" fmla="val 114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5" name="Image 0" descr="/mnt/data/f2c09718-3736-4b35-b55f-717f99caaf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82296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15087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89720" y="150876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00032" y="1673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Download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400032" y="2039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~5T bytes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400032" y="22219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sample dashboard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189720" y="27889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89720" y="2788920"/>
            <a:ext cx="73152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0032" y="2953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Upload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400032" y="33192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~410bn bytes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400032" y="35021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sample dashboard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89720" y="40690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89720" y="4069080"/>
            <a:ext cx="73152" cy="109728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00032" y="4233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7B"/>
                </a:solidFill>
              </a:rPr>
              <a:t>Avg DL RTT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00032" y="45994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131.83 ms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9400032" y="4782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B"/>
                </a:solidFill>
              </a:rPr>
              <a:t>sample dashboard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25712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B"/>
                </a:solidFill>
              </a:rPr>
              <a:t>Top manufacturers are also visible for rapid executive review.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analysis says about TellCo’s customer base and network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630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Traffic concentration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764792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Gaming and Other applications dominate demand, with YouTube and Netflix also significant.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25880"/>
            <a:ext cx="54864" cy="12618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4630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Device concentration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1764792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Apple, Samsung and Huawei account for most handset usage; Huawei B528S-23A is highly prevalent.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98648"/>
            <a:ext cx="54864" cy="12618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358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Download-heavy network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337560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Download traffic materially exceeds upload traffic, pointing to content-consumption behavior.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09360" y="2898648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898648"/>
            <a:ext cx="54864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0358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Segment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3337560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Engagement and satisfaction clusters provide a basis for differentiated retention and monetization strategies.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85800" y="4471416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71416"/>
            <a:ext cx="54864" cy="1261872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6085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Experience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" y="4910328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RTT and retransmission metrics show that network quality should remain a core investment priority.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09360" y="4471416"/>
            <a:ext cx="5257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471416"/>
            <a:ext cx="54864" cy="12618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6085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Satisfaction gap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3952" y="4910328"/>
            <a:ext cx="49834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About two-thirds of scored users fall in the less-satisfied cluster, creating a meaningful improvement opportunity.</a:t>
            </a:r>
            <a:endParaRPr lang="en-US" sz="10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that can improve revenue potential and customer experience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44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898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472184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0876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Invest in network capacity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69080" y="136245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D6B7B"/>
                </a:solidFill>
              </a:rPr>
              <a:t>Prioritize gaming/video traffic hotspots and monitor RTT, throughput and retransmission.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731520" y="2203704"/>
            <a:ext cx="10744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3591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441448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Target high-value segments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69080" y="233172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D6B7B"/>
                </a:solidFill>
              </a:rPr>
              <a:t>Use engagement and satisfaction scores for retention, premium plans and personalized offers.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31520" y="3172968"/>
            <a:ext cx="10744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284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41071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33009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Build device partnerships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3300984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D6B7B"/>
                </a:solidFill>
              </a:rPr>
              <a:t>Focus commercial bundles and support around Apple, Huawei and Samsung ecosystems.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31520" y="4142232"/>
            <a:ext cx="10744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297680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37997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Improve low-satisfaction journeys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69080" y="427024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D6B7B"/>
                </a:solidFill>
              </a:rPr>
              <a:t>Investigate low-experience and low-engagement users before churn develops.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31520" y="5111496"/>
            <a:ext cx="10744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26694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349240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08760" y="5239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Operationalize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69080" y="523951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D6B7B"/>
                </a:solidFill>
              </a:rPr>
              <a:t>Refresh customer scores, dashboards and model tracking on a regular schedule.</a:t>
            </a:r>
            <a:endParaRPr lang="en-US" sz="107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boundaries on interpretation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42416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The Power BI and SQL views used sample subsets, while the primary Python analysis used the full telecom dataset.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Mean/mode imputation and outlier replacement can reduce natural variability and influence clustering results.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PCA with two components explains only 29.38% of application-usage variance.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The satisfaction regression target is constructed directly from engagement and experience scores, making R² ≈ 1.0 structurally expected.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No revenue, cost, churn, pricing, market-share or capital-expenditure data were included in this analysis.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Model tracking was implemented, but a full CI/CD, Docker and production monitoring pipeline was not deployed.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5623560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623560"/>
            <a:ext cx="54864" cy="65836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5760720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Decision implication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6062472"/>
            <a:ext cx="10012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The recommendation should be treated as operational/customer-analytics evidence and combined with financial due diligence before acquisition.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Recommendation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Proceed with a conditional BUY, subject to financial and network-capex validation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AF7F0"/>
          </a:solidFill>
          <a:ln w="12700">
            <a:solidFill>
              <a:srgbClr val="B9D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8B57"/>
                </a:solidFill>
              </a:rPr>
              <a:t>BUY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2761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Conditional recommendation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2651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B7B"/>
                </a:solidFill>
              </a:rPr>
              <a:t>Customer demand is substantial, segmentation opportunities are clear, and operational improvements can create upside.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389888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89888"/>
            <a:ext cx="54864" cy="1051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270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Why buy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828800"/>
            <a:ext cx="6309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Strong traffic demand, large engaged segments, device concentration that enables focused partnerships, and measurable satisfaction improvement opportunities.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743200"/>
            <a:ext cx="54864" cy="105156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8803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Conditions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9432" y="3182112"/>
            <a:ext cx="6309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Validate revenue quality, churn, ARPU, infrastructure capex, coverage and competitive position before final transaction approval.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434840" y="4096512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096512"/>
            <a:ext cx="54864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42336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First 90 days after acquisition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9432" y="4535424"/>
            <a:ext cx="6309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D6B7B"/>
                </a:solidFill>
              </a:rPr>
              <a:t>Prioritize network quality, high-usage customer retention, gaming/video capacity planning and recurring analytics refreshes.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&amp; Submission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deliverables prepared for the project brief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42416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Project brief: Nexthikes IT Solutions — User Analytics in the Telecommunication Industry.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Telecom xDR dataset and Field Descriptions workbook.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Python analysis notebook: TELECOM.ipynb / TELECOM_GitHub.ipynb.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SQL analysis notebook: Telecom_SQL_Analysis.ipynb.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MySQL export table: telecom_satisfaction_scores.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Power BI file: Telecom_Customer_Analytics_Dashboard.pbix and dashboard screenshot.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Model artifacts: model_tracking.csv and satisfaction_model_v1.pkl.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</a:rPr>
              <a:t>Before submission: add the final GitHub repository URL(s) to this slide.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58064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586130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18 slides total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063240" y="58064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586130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Within 20-slide limit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669280" y="580644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586130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Dashboard included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092440" y="580644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5861304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Buy recommendation included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2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Office PowerPoint</Application>
  <PresentationFormat>Widescreen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TellCo Analysis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Analytics in the Telecommunication Industry</dc:title>
  <dc:subject>Telecom Customer Analytics</dc:subject>
  <dc:creator>OpenAI</dc:creator>
  <cp:lastModifiedBy>Microsoft account</cp:lastModifiedBy>
  <cp:revision>1</cp:revision>
  <dcterms:created xsi:type="dcterms:W3CDTF">2026-08-10T18:37:00Z</dcterms:created>
  <dcterms:modified xsi:type="dcterms:W3CDTF">2026-08-10T18:41:00Z</dcterms:modified>
</cp:coreProperties>
</file>